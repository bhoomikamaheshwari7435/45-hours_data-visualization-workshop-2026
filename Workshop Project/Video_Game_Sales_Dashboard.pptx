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b33ca65-0c34-f83a-4576-04aad296cc79}">
          <p14:sldIdLst>
            <p14:sldId id="256"/>
            <p14:sldId id="257"/>
          </p14:sldIdLst>
        </p14:section>
        <p14:section name="Charts" id="{42d1f633-ad62-fdb6-0102-26c3cce5d9af}">
          <p14:sldIdLst>
            <p14:sldId id="258"/>
            <p14:sldId id="259"/>
            <p14:sldId id="260"/>
            <p14:sldId id="261"/>
            <p14:sldId id="262"/>
          </p14:sldIdLst>
        </p14:section>
        <p14:section name="Wrap-up" id="{81478847-92a8-086e-92c3-a241ffe2fcb8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dashboard and what the presentation will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games 2.348K, total global sales 1.33K, average peak CCU 53.19, total positive reviews 3K.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peaked in the late 2000s. Very low sales until the mid-1990s Two peaks: around 2005-06 and 2008-09 Steady decline after 2010 Insight: The latest years may be incomplete, so read the drop with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Wii Sports towers over the rest. Wii Sports leads by a wide margin GTA V, Super Mario Bros. and Tetris follow Nintendo titles dominate the top ten Insight: A few blockbuster franchises drive a large share of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platforms hold most games. The largest platform has about 400 games Next platforms fall to roughly 220 A long tail has fewer than 100 each Insight: The catalogue is concentrated on a handful of popular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and Sports lead the genres. Action is first at about 1,700+ Sports is second at about 1,300 Fighting and Simulation are lowest, near 400 Insight: Action, Sports and Shooter are the safest bets for new releases.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are uneven across regions. Combined total shown: 4.40K Largest slice is labelled 0.68K Other slices: 0.38K, 0.14K and 0.13K Insight: Focus marketing on the strongest regions and test growth in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E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E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D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D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22D3EE"/>
                </a:solidFill>
              </a:rPr>
              <a:t>GLOBAL VIDEO GAME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Sales Dashboard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BDF0"/>
                </a:solidFill>
              </a:rPr>
              <a:t>What 2,348 games, five charts and four KPIs tell us about the market</a:t>
            </a:r>
            <a:endParaRPr lang="en-US" sz="1600" dirty="0"/>
          </a:p>
        </p:txBody>
      </p:sp>
      <p:sp>
        <p:nvSpPr>
          <p:cNvPr id="5" name="Dashboard frame"/>
          <p:cNvSpPr/>
          <p:nvPr/>
        </p:nvSpPr>
        <p:spPr>
          <a:xfrm>
            <a:off x="4754880" y="777240"/>
            <a:ext cx="3931920" cy="2783939"/>
          </a:xfrm>
          <a:prstGeom prst="roundRect">
            <a:avLst>
              <a:gd name="adj" fmla="val 3941"/>
            </a:avLst>
          </a:prstGeom>
          <a:solidFill>
            <a:srgbClr val="1D2166"/>
          </a:solidFill>
          <a:ln w="19050">
            <a:solidFill>
              <a:srgbClr val="F472B6"/>
            </a:solidFill>
            <a:prstDash val="solid"/>
          </a:ln>
        </p:spPr>
      </p:sp>
      <p:pic>
        <p:nvPicPr>
          <p:cNvPr id="6" name="Dashboard image" descr="Full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914400"/>
            <a:ext cx="3657600" cy="2334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at a glance</a:t>
            </a:r>
            <a:endParaRPr lang="en-US" sz="3200" dirty="0"/>
          </a:p>
        </p:txBody>
      </p:sp>
      <p:sp>
        <p:nvSpPr>
          <p:cNvPr id="3" name="KPI card 1"/>
          <p:cNvSpPr/>
          <p:nvPr/>
        </p:nvSpPr>
        <p:spPr>
          <a:xfrm>
            <a:off x="457200" y="13716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D2166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EE"/>
                </a:solidFill>
              </a:rPr>
              <a:t>2.348K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Total games</a:t>
            </a:r>
            <a:endParaRPr lang="en-US" sz="1400" dirty="0"/>
          </a:p>
        </p:txBody>
      </p:sp>
      <p:sp>
        <p:nvSpPr>
          <p:cNvPr id="6" name="KPI card 2"/>
          <p:cNvSpPr/>
          <p:nvPr/>
        </p:nvSpPr>
        <p:spPr>
          <a:xfrm>
            <a:off x="2560320" y="13716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D2166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72B6"/>
                </a:solidFill>
              </a:rPr>
              <a:t>1.33K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Total global sales</a:t>
            </a:r>
            <a:endParaRPr lang="en-US" sz="1400" dirty="0"/>
          </a:p>
        </p:txBody>
      </p:sp>
      <p:sp>
        <p:nvSpPr>
          <p:cNvPr id="9" name="KPI card 3"/>
          <p:cNvSpPr/>
          <p:nvPr/>
        </p:nvSpPr>
        <p:spPr>
          <a:xfrm>
            <a:off x="4663440" y="13716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D216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</a:rPr>
              <a:t>53.19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Average peak CCU</a:t>
            </a:r>
            <a:endParaRPr lang="en-US" sz="1400" dirty="0"/>
          </a:p>
        </p:txBody>
      </p:sp>
      <p:sp>
        <p:nvSpPr>
          <p:cNvPr id="12" name="KPI card 4"/>
          <p:cNvSpPr/>
          <p:nvPr/>
        </p:nvSpPr>
        <p:spPr>
          <a:xfrm>
            <a:off x="6766560" y="13716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D2166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BF24"/>
                </a:solidFill>
              </a:rPr>
              <a:t>3K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Total positive reviews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Five charts then break the numbers down by:</a:t>
            </a:r>
            <a:endParaRPr lang="en-US" sz="1600" dirty="0"/>
          </a:p>
        </p:txBody>
      </p:sp>
      <p:sp>
        <p:nvSpPr>
          <p:cNvPr id="16" name="Tag Year"/>
          <p:cNvSpPr/>
          <p:nvPr/>
        </p:nvSpPr>
        <p:spPr>
          <a:xfrm>
            <a:off x="457200" y="3931920"/>
            <a:ext cx="1508760" cy="502920"/>
          </a:xfrm>
          <a:prstGeom prst="roundRect">
            <a:avLst>
              <a:gd name="adj" fmla="val 45455"/>
            </a:avLst>
          </a:prstGeom>
          <a:solidFill>
            <a:srgbClr val="1D2166"/>
          </a:solidFill>
          <a:ln w="9525">
            <a:solidFill>
              <a:srgbClr val="B9BD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Year</a:t>
            </a:r>
            <a:endParaRPr lang="en-US" sz="1400" dirty="0"/>
          </a:p>
        </p:txBody>
      </p:sp>
      <p:sp>
        <p:nvSpPr>
          <p:cNvPr id="18" name="Tag Game"/>
          <p:cNvSpPr/>
          <p:nvPr/>
        </p:nvSpPr>
        <p:spPr>
          <a:xfrm>
            <a:off x="2148840" y="3931920"/>
            <a:ext cx="1508760" cy="502920"/>
          </a:xfrm>
          <a:prstGeom prst="roundRect">
            <a:avLst>
              <a:gd name="adj" fmla="val 45455"/>
            </a:avLst>
          </a:prstGeom>
          <a:solidFill>
            <a:srgbClr val="1D2166"/>
          </a:solidFill>
          <a:ln w="9525">
            <a:solidFill>
              <a:srgbClr val="B9BD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4884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Game</a:t>
            </a:r>
            <a:endParaRPr lang="en-US" sz="1400" dirty="0"/>
          </a:p>
        </p:txBody>
      </p:sp>
      <p:sp>
        <p:nvSpPr>
          <p:cNvPr id="20" name="Tag Platform"/>
          <p:cNvSpPr/>
          <p:nvPr/>
        </p:nvSpPr>
        <p:spPr>
          <a:xfrm>
            <a:off x="3840480" y="3931920"/>
            <a:ext cx="1508760" cy="502920"/>
          </a:xfrm>
          <a:prstGeom prst="roundRect">
            <a:avLst>
              <a:gd name="adj" fmla="val 45455"/>
            </a:avLst>
          </a:prstGeom>
          <a:solidFill>
            <a:srgbClr val="1D2166"/>
          </a:solidFill>
          <a:ln w="9525">
            <a:solidFill>
              <a:srgbClr val="B9BD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Platform</a:t>
            </a:r>
            <a:endParaRPr lang="en-US" sz="1400" dirty="0"/>
          </a:p>
        </p:txBody>
      </p:sp>
      <p:sp>
        <p:nvSpPr>
          <p:cNvPr id="22" name="Tag Genre"/>
          <p:cNvSpPr/>
          <p:nvPr/>
        </p:nvSpPr>
        <p:spPr>
          <a:xfrm>
            <a:off x="5532120" y="3931920"/>
            <a:ext cx="1508760" cy="502920"/>
          </a:xfrm>
          <a:prstGeom prst="roundRect">
            <a:avLst>
              <a:gd name="adj" fmla="val 45455"/>
            </a:avLst>
          </a:prstGeom>
          <a:solidFill>
            <a:srgbClr val="1D2166"/>
          </a:solidFill>
          <a:ln w="9525">
            <a:solidFill>
              <a:srgbClr val="B9BD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3212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Genre</a:t>
            </a:r>
            <a:endParaRPr lang="en-US" sz="1400" dirty="0"/>
          </a:p>
        </p:txBody>
      </p:sp>
      <p:sp>
        <p:nvSpPr>
          <p:cNvPr id="24" name="Tag Region"/>
          <p:cNvSpPr/>
          <p:nvPr/>
        </p:nvSpPr>
        <p:spPr>
          <a:xfrm>
            <a:off x="7223760" y="3931920"/>
            <a:ext cx="1508760" cy="502920"/>
          </a:xfrm>
          <a:prstGeom prst="roundRect">
            <a:avLst>
              <a:gd name="adj" fmla="val 45455"/>
            </a:avLst>
          </a:prstGeom>
          <a:solidFill>
            <a:srgbClr val="1D2166"/>
          </a:solidFill>
          <a:ln w="9525">
            <a:solidFill>
              <a:srgbClr val="B9BD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2376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Region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D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peaked in the late 2000s</a:t>
            </a:r>
            <a:endParaRPr lang="en-US" sz="3200" dirty="0"/>
          </a:p>
        </p:txBody>
      </p:sp>
      <p:sp>
        <p:nvSpPr>
          <p:cNvPr id="3" name="Image card"/>
          <p:cNvSpPr/>
          <p:nvPr/>
        </p:nvSpPr>
        <p:spPr>
          <a:xfrm>
            <a:off x="457200" y="1188720"/>
            <a:ext cx="4846320" cy="3429000"/>
          </a:xfrm>
          <a:prstGeom prst="roundRect">
            <a:avLst>
              <a:gd name="adj" fmla="val 3200"/>
            </a:avLst>
          </a:prstGeom>
          <a:solidFill>
            <a:srgbClr val="1D216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4" name="Chart image" descr="Sales peaked in the late 2000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86" y="1371600"/>
            <a:ext cx="4337548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</a:rPr>
              <a:t>WHAT IT SHOWS</a:t>
            </a:r>
            <a:endParaRPr lang="en-US" sz="1200" dirty="0"/>
          </a:p>
        </p:txBody>
      </p:sp>
      <p:sp>
        <p:nvSpPr>
          <p:cNvPr id="6" name="Bullets"/>
          <p:cNvSpPr txBox="1"/>
          <p:nvPr/>
        </p:nvSpPr>
        <p:spPr>
          <a:xfrm>
            <a:off x="5577840" y="15087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Very low sales until the mid-1990s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Two peaks: around 2005-06 and 2008-09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Steady decline after 2010</a:t>
            </a:r>
            <a:endParaRPr lang="en-US" sz="1400" dirty="0"/>
          </a:p>
        </p:txBody>
      </p:sp>
      <p:sp>
        <p:nvSpPr>
          <p:cNvPr id="7" name="Insight card"/>
          <p:cNvSpPr/>
          <p:nvPr/>
        </p:nvSpPr>
        <p:spPr>
          <a:xfrm>
            <a:off x="5577840" y="347472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1D2166"/>
          </a:solidFill>
          <a:ln/>
        </p:spPr>
      </p:sp>
      <p:sp>
        <p:nvSpPr>
          <p:cNvPr id="8" name="Insight text"/>
          <p:cNvSpPr txBox="1"/>
          <p:nvPr/>
        </p:nvSpPr>
        <p:spPr>
          <a:xfrm>
            <a:off x="5715000" y="35204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Insight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 latest years may be incomplete, so read the drop with care.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D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 Sports towers over the rest</a:t>
            </a:r>
            <a:endParaRPr lang="en-US" sz="3200" dirty="0"/>
          </a:p>
        </p:txBody>
      </p:sp>
      <p:sp>
        <p:nvSpPr>
          <p:cNvPr id="3" name="Image card"/>
          <p:cNvSpPr/>
          <p:nvPr/>
        </p:nvSpPr>
        <p:spPr>
          <a:xfrm>
            <a:off x="457200" y="1188720"/>
            <a:ext cx="4846320" cy="3429000"/>
          </a:xfrm>
          <a:prstGeom prst="roundRect">
            <a:avLst>
              <a:gd name="adj" fmla="val 3200"/>
            </a:avLst>
          </a:prstGeom>
          <a:solidFill>
            <a:srgbClr val="1D2166"/>
          </a:solidFill>
          <a:ln w="19050">
            <a:solidFill>
              <a:srgbClr val="F472B6"/>
            </a:solidFill>
            <a:prstDash val="solid"/>
          </a:ln>
        </p:spPr>
      </p:sp>
      <p:pic>
        <p:nvPicPr>
          <p:cNvPr id="4" name="Chart image" descr="Wii Sports towers over the r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31664"/>
            <a:ext cx="4480560" cy="294311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72B6"/>
                </a:solidFill>
              </a:rPr>
              <a:t>WHAT IT SHOWS</a:t>
            </a:r>
            <a:endParaRPr lang="en-US" sz="1200" dirty="0"/>
          </a:p>
        </p:txBody>
      </p:sp>
      <p:sp>
        <p:nvSpPr>
          <p:cNvPr id="6" name="Bullets"/>
          <p:cNvSpPr txBox="1"/>
          <p:nvPr/>
        </p:nvSpPr>
        <p:spPr>
          <a:xfrm>
            <a:off x="5577840" y="15087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Wii Sports leads by a wide margin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GTA V, Super Mario Bros. and Tetris follow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Nintendo titles dominate the top ten</a:t>
            </a:r>
            <a:endParaRPr lang="en-US" sz="1400" dirty="0"/>
          </a:p>
        </p:txBody>
      </p:sp>
      <p:sp>
        <p:nvSpPr>
          <p:cNvPr id="7" name="Insight card"/>
          <p:cNvSpPr/>
          <p:nvPr/>
        </p:nvSpPr>
        <p:spPr>
          <a:xfrm>
            <a:off x="5577840" y="347472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1D2166"/>
          </a:solidFill>
          <a:ln/>
        </p:spPr>
      </p:sp>
      <p:sp>
        <p:nvSpPr>
          <p:cNvPr id="8" name="Insight text"/>
          <p:cNvSpPr txBox="1"/>
          <p:nvPr/>
        </p:nvSpPr>
        <p:spPr>
          <a:xfrm>
            <a:off x="5715000" y="35204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</a:rPr>
              <a:t>Insight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few blockbuster franchises drive a large share of sales.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D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platforms hold most games</a:t>
            </a:r>
            <a:endParaRPr lang="en-US" sz="3200" dirty="0"/>
          </a:p>
        </p:txBody>
      </p:sp>
      <p:sp>
        <p:nvSpPr>
          <p:cNvPr id="3" name="Image card"/>
          <p:cNvSpPr/>
          <p:nvPr/>
        </p:nvSpPr>
        <p:spPr>
          <a:xfrm>
            <a:off x="457200" y="1188720"/>
            <a:ext cx="4846320" cy="3429000"/>
          </a:xfrm>
          <a:prstGeom prst="roundRect">
            <a:avLst>
              <a:gd name="adj" fmla="val 3200"/>
            </a:avLst>
          </a:prstGeom>
          <a:solidFill>
            <a:srgbClr val="1D2166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4" name="Chart image" descr="A few platforms hold most ga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604" y="1371600"/>
            <a:ext cx="3811512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</a:rPr>
              <a:t>WHAT IT SHOWS</a:t>
            </a:r>
            <a:endParaRPr lang="en-US" sz="1200" dirty="0"/>
          </a:p>
        </p:txBody>
      </p:sp>
      <p:sp>
        <p:nvSpPr>
          <p:cNvPr id="6" name="Bullets"/>
          <p:cNvSpPr txBox="1"/>
          <p:nvPr/>
        </p:nvSpPr>
        <p:spPr>
          <a:xfrm>
            <a:off x="5577840" y="15087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The largest platform has about 400 games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Next platforms fall to roughly 220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 long tail has fewer than 100 each</a:t>
            </a:r>
            <a:endParaRPr lang="en-US" sz="1400" dirty="0"/>
          </a:p>
        </p:txBody>
      </p:sp>
      <p:sp>
        <p:nvSpPr>
          <p:cNvPr id="7" name="Insight card"/>
          <p:cNvSpPr/>
          <p:nvPr/>
        </p:nvSpPr>
        <p:spPr>
          <a:xfrm>
            <a:off x="5577840" y="347472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1D2166"/>
          </a:solidFill>
          <a:ln/>
        </p:spPr>
      </p:sp>
      <p:sp>
        <p:nvSpPr>
          <p:cNvPr id="8" name="Insight text"/>
          <p:cNvSpPr txBox="1"/>
          <p:nvPr/>
        </p:nvSpPr>
        <p:spPr>
          <a:xfrm>
            <a:off x="5715000" y="35204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Insight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 catalogue is concentrated on a handful of popular platforms.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D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and Sports lead the genres</a:t>
            </a:r>
            <a:endParaRPr lang="en-US" sz="3200" dirty="0"/>
          </a:p>
        </p:txBody>
      </p:sp>
      <p:sp>
        <p:nvSpPr>
          <p:cNvPr id="3" name="Image card"/>
          <p:cNvSpPr/>
          <p:nvPr/>
        </p:nvSpPr>
        <p:spPr>
          <a:xfrm>
            <a:off x="457200" y="1188720"/>
            <a:ext cx="4846320" cy="3429000"/>
          </a:xfrm>
          <a:prstGeom prst="roundRect">
            <a:avLst>
              <a:gd name="adj" fmla="val 3200"/>
            </a:avLst>
          </a:prstGeom>
          <a:solidFill>
            <a:srgbClr val="1D216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4" name="Chart image" descr="Action and Sports lead the gen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504"/>
            <a:ext cx="4480560" cy="2843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</a:rPr>
              <a:t>WHAT IT SHOWS</a:t>
            </a:r>
            <a:endParaRPr lang="en-US" sz="1200" dirty="0"/>
          </a:p>
        </p:txBody>
      </p:sp>
      <p:sp>
        <p:nvSpPr>
          <p:cNvPr id="6" name="Bullets"/>
          <p:cNvSpPr txBox="1"/>
          <p:nvPr/>
        </p:nvSpPr>
        <p:spPr>
          <a:xfrm>
            <a:off x="5577840" y="15087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Action is first at about 1,700+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Sports is second at about 1,300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Fighting and Simulation are lowest, near 400</a:t>
            </a:r>
            <a:endParaRPr lang="en-US" sz="1400" dirty="0"/>
          </a:p>
        </p:txBody>
      </p:sp>
      <p:sp>
        <p:nvSpPr>
          <p:cNvPr id="7" name="Insight card"/>
          <p:cNvSpPr/>
          <p:nvPr/>
        </p:nvSpPr>
        <p:spPr>
          <a:xfrm>
            <a:off x="5577840" y="347472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1D2166"/>
          </a:solidFill>
          <a:ln/>
        </p:spPr>
      </p:sp>
      <p:sp>
        <p:nvSpPr>
          <p:cNvPr id="8" name="Insight text"/>
          <p:cNvSpPr txBox="1"/>
          <p:nvPr/>
        </p:nvSpPr>
        <p:spPr>
          <a:xfrm>
            <a:off x="5715000" y="35204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Insight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Action, Sports and Shooter are the safest bets for new releases.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D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uneven across regions</a:t>
            </a:r>
            <a:endParaRPr lang="en-US" sz="3200" dirty="0"/>
          </a:p>
        </p:txBody>
      </p:sp>
      <p:sp>
        <p:nvSpPr>
          <p:cNvPr id="3" name="Image card"/>
          <p:cNvSpPr/>
          <p:nvPr/>
        </p:nvSpPr>
        <p:spPr>
          <a:xfrm>
            <a:off x="457200" y="1188720"/>
            <a:ext cx="4846320" cy="3429000"/>
          </a:xfrm>
          <a:prstGeom prst="roundRect">
            <a:avLst>
              <a:gd name="adj" fmla="val 3200"/>
            </a:avLst>
          </a:prstGeom>
          <a:solidFill>
            <a:srgbClr val="1D216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4" name="Chart image" descr="Sales are uneven across reg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025" y="1371600"/>
            <a:ext cx="3898669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</a:rPr>
              <a:t>WHAT IT SHOWS</a:t>
            </a:r>
            <a:endParaRPr lang="en-US" sz="1200" dirty="0"/>
          </a:p>
        </p:txBody>
      </p:sp>
      <p:sp>
        <p:nvSpPr>
          <p:cNvPr id="6" name="Bullets"/>
          <p:cNvSpPr txBox="1"/>
          <p:nvPr/>
        </p:nvSpPr>
        <p:spPr>
          <a:xfrm>
            <a:off x="5577840" y="15087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Combined total shown: 4.40K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Largest slice is labelled 0.68K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Other slices: 0.38K, 0.14K and 0.13K</a:t>
            </a:r>
            <a:endParaRPr lang="en-US" sz="1400" dirty="0"/>
          </a:p>
        </p:txBody>
      </p:sp>
      <p:sp>
        <p:nvSpPr>
          <p:cNvPr id="7" name="Insight card"/>
          <p:cNvSpPr/>
          <p:nvPr/>
        </p:nvSpPr>
        <p:spPr>
          <a:xfrm>
            <a:off x="5577840" y="347472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1D2166"/>
          </a:solidFill>
          <a:ln/>
        </p:spPr>
      </p:sp>
      <p:sp>
        <p:nvSpPr>
          <p:cNvPr id="8" name="Insight text"/>
          <p:cNvSpPr txBox="1"/>
          <p:nvPr/>
        </p:nvSpPr>
        <p:spPr>
          <a:xfrm>
            <a:off x="5715000" y="35204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Insight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Focus marketing on the strongest regions and test growth in the rest.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D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akeaway card 1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1D2166"/>
          </a:solidFill>
          <a:ln/>
        </p:spPr>
      </p:sp>
      <p:sp>
        <p:nvSpPr>
          <p:cNvPr id="4" name="Number badge 1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033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173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Boom, then decline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9BDF0"/>
                </a:solidFill>
              </a:rPr>
              <a:t>Sales grew from the mid-1990s, peaked in the late 2000s, then fell.</a:t>
            </a:r>
            <a:endParaRPr lang="en-US" sz="1800" dirty="0"/>
          </a:p>
        </p:txBody>
      </p:sp>
      <p:sp>
        <p:nvSpPr>
          <p:cNvPr id="7" name="Takeaway card 2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1D2166"/>
          </a:solidFill>
          <a:ln/>
        </p:spPr>
      </p:sp>
      <p:sp>
        <p:nvSpPr>
          <p:cNvPr id="8" name="Number badge 2"/>
          <p:cNvSpPr/>
          <p:nvPr/>
        </p:nvSpPr>
        <p:spPr>
          <a:xfrm>
            <a:off x="4892040" y="1554480"/>
            <a:ext cx="548640" cy="54864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033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4173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Hit-driven market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9BDF0"/>
                </a:solidFill>
              </a:rPr>
              <a:t>A handful of titles, led by Wii Sports, drive much of the sales.</a:t>
            </a:r>
            <a:endParaRPr lang="en-US" sz="1800" dirty="0"/>
          </a:p>
        </p:txBody>
      </p:sp>
      <p:sp>
        <p:nvSpPr>
          <p:cNvPr id="11" name="Takeaway card 3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1D2166"/>
          </a:solidFill>
          <a:ln/>
        </p:spPr>
      </p:sp>
      <p:sp>
        <p:nvSpPr>
          <p:cNvPr id="12" name="Number badge 3"/>
          <p:cNvSpPr/>
          <p:nvPr/>
        </p:nvSpPr>
        <p:spPr>
          <a:xfrm>
            <a:off x="685800" y="3246120"/>
            <a:ext cx="548640" cy="5486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033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10896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Genre focus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9BDF0"/>
                </a:solidFill>
              </a:rPr>
              <a:t>Action, Sports and Shooter are the strongest genres.</a:t>
            </a:r>
            <a:endParaRPr lang="en-US" sz="1800" dirty="0"/>
          </a:p>
        </p:txBody>
      </p:sp>
      <p:sp>
        <p:nvSpPr>
          <p:cNvPr id="15" name="Takeaway card 4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1D2166"/>
          </a:solidFill>
          <a:ln/>
        </p:spPr>
      </p:sp>
      <p:sp>
        <p:nvSpPr>
          <p:cNvPr id="16" name="Number badge 4"/>
          <p:cNvSpPr/>
          <p:nvPr/>
        </p:nvSpPr>
        <p:spPr>
          <a:xfrm>
            <a:off x="4892040" y="324612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033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310896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Concentrated reach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9BDF0"/>
                </a:solidFill>
              </a:rPr>
              <a:t>Few platforms and regions account for most games and sales.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D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sharing: check the data</a:t>
            </a:r>
            <a:endParaRPr lang="en-US" sz="3200" dirty="0"/>
          </a:p>
        </p:txBody>
      </p:sp>
      <p:sp>
        <p:nvSpPr>
          <p:cNvPr id="3" name="Check card 1"/>
          <p:cNvSpPr/>
          <p:nvPr/>
        </p:nvSpPr>
        <p:spPr>
          <a:xfrm>
            <a:off x="457200" y="128016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1D216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Totals do not match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KPI shows 1.33K sales but the donut centre shows 4.40K.</a:t>
            </a:r>
            <a:endParaRPr lang="en-US" sz="1600" dirty="0"/>
          </a:p>
        </p:txBody>
      </p:sp>
      <p:sp>
        <p:nvSpPr>
          <p:cNvPr id="5" name="Check card 2"/>
          <p:cNvSpPr/>
          <p:nvPr/>
        </p:nvSpPr>
        <p:spPr>
          <a:xfrm>
            <a:off x="457200" y="237744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1D21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Region percentages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Slice labels such as 0.68K (7.68%) do not form a 100% split.</a:t>
            </a:r>
            <a:endParaRPr lang="en-US" sz="1600" dirty="0"/>
          </a:p>
        </p:txBody>
      </p:sp>
      <p:sp>
        <p:nvSpPr>
          <p:cNvPr id="7" name="Check card 3"/>
          <p:cNvSpPr/>
          <p:nvPr/>
        </p:nvSpPr>
        <p:spPr>
          <a:xfrm>
            <a:off x="457200" y="347472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1D21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4747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Mixed data sources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Peak CCU and reviews may come from a different table than sales.</a:t>
            </a:r>
            <a:endParaRPr lang="en-US" sz="1600" dirty="0"/>
          </a:p>
        </p:txBody>
      </p:sp>
      <p:sp>
        <p:nvSpPr>
          <p:cNvPr id="9" name="Next steps card"/>
          <p:cNvSpPr/>
          <p:nvPr/>
        </p:nvSpPr>
        <p:spPr>
          <a:xfrm>
            <a:off x="5577840" y="1280160"/>
            <a:ext cx="3108960" cy="3154680"/>
          </a:xfrm>
          <a:prstGeom prst="roundRect">
            <a:avLst>
              <a:gd name="adj" fmla="val 3529"/>
            </a:avLst>
          </a:prstGeom>
          <a:solidFill>
            <a:srgbClr val="1D2166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78308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Fix the sales measures so totals agree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Add year, genre and platform slicers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Add units (millions) to every chart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D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on Arcade">
  <a:themeElements>
    <a:clrScheme name="Neon Arcade">
      <a:dk1>
        <a:srgbClr val="0E1033"/>
      </a:dk1>
      <a:lt1>
        <a:srgbClr val="FFFFFF"/>
      </a:lt1>
      <a:dk2>
        <a:srgbClr val="1D2166"/>
      </a:dk2>
      <a:lt2>
        <a:srgbClr val="E8E9FB"/>
      </a:lt2>
      <a:accent1>
        <a:srgbClr val="22D3EE"/>
      </a:accent1>
      <a:accent2>
        <a:srgbClr val="F472B6"/>
      </a:accent2>
      <a:accent3>
        <a:srgbClr val="8B5CF6"/>
      </a:accent3>
      <a:accent4>
        <a:srgbClr val="FBBF24"/>
      </a:accent4>
      <a:accent5>
        <a:srgbClr val="34D399"/>
      </a:accent5>
      <a:accent6>
        <a:srgbClr val="60A5FA"/>
      </a:accent6>
      <a:hlink>
        <a:srgbClr val="22D3EE"/>
      </a:hlink>
      <a:folHlink>
        <a:srgbClr val="8B5CF6"/>
      </a:folHlink>
    </a:clrScheme>
    <a:fontScheme name="Neon Arcad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Video Game Sales Dashboard</dc:title>
  <dc:subject>PptxGenJS Presentation</dc:subject>
  <dc:creator>Claude</dc:creator>
  <cp:lastModifiedBy>Claude</cp:lastModifiedBy>
  <cp:revision>1</cp:revision>
  <dcterms:created xsi:type="dcterms:W3CDTF">2026-10-11T14:31:34Z</dcterms:created>
  <dcterms:modified xsi:type="dcterms:W3CDTF">2026-10-11T14:31:34Z</dcterms:modified>
</cp:coreProperties>
</file>